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-27432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LeadDrive CRM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Muasir Biznesiniz ucun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Agilli CRM Platformasi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Satis, Marketinq, Destek ve Maliyye — hamisi bir platformada.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Suni intellekt ile guclendirilmis.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754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Sifaris Edin  -&gt;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Guven Technology LLC  |  Baki, Azerbaycan  |  leaddrivecrm.org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94576" y="950976"/>
            <a:ext cx="4754880" cy="4846320"/>
          </a:xfrm>
          <a:prstGeom prst="roundRect">
            <a:avLst>
              <a:gd name="adj" fmla="val 2308"/>
            </a:avLst>
          </a:prstGeom>
          <a:solidFill>
            <a:srgbClr val="000000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914400"/>
            <a:ext cx="4754880" cy="48463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914400"/>
            <a:ext cx="4754880" cy="36576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1097280"/>
            <a:ext cx="475488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102412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7242048" y="1024128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443216" y="102412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app.leaddrivecrm.org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280160"/>
            <a:ext cx="1005840" cy="4480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371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22008" y="1719072"/>
            <a:ext cx="877824" cy="219456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71907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Idare Paneli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6995160" y="197510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Sirketler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995160" y="223113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Sovdelesmeler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995160" y="248716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Lidler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6995160" y="274320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Tapshiriqlar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995160" y="299923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995160" y="325526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Hesabatlar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8138160" y="137160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14173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$847K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83880" y="16916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Gelir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9006840" y="137160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9052560" y="14173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52560" y="16916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Lidler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9875520" y="137160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9921240" y="14173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21240" y="16916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Sovdelesmeler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10744200" y="137160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10789920" y="14173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789920" y="16916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Konversiya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8138160" y="2057400"/>
            <a:ext cx="3383280" cy="16459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43" name="Text 41"/>
          <p:cNvSpPr/>
          <p:nvPr/>
        </p:nvSpPr>
        <p:spPr>
          <a:xfrm>
            <a:off x="8275320" y="21214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 Pipeline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366760" y="3154680"/>
            <a:ext cx="320040" cy="365760"/>
          </a:xfrm>
          <a:prstGeom prst="roundRect">
            <a:avLst>
              <a:gd name="adj" fmla="val 11429"/>
            </a:avLst>
          </a:prstGeom>
          <a:solidFill>
            <a:srgbClr val="0066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869680" y="2880360"/>
            <a:ext cx="32004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46" name="Shape 44"/>
          <p:cNvSpPr/>
          <p:nvPr/>
        </p:nvSpPr>
        <p:spPr>
          <a:xfrm>
            <a:off x="9372600" y="2514600"/>
            <a:ext cx="320040" cy="100584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</p:sp>
      <p:sp>
        <p:nvSpPr>
          <p:cNvPr id="47" name="Shape 45"/>
          <p:cNvSpPr/>
          <p:nvPr/>
        </p:nvSpPr>
        <p:spPr>
          <a:xfrm>
            <a:off x="9875520" y="2743200"/>
            <a:ext cx="320040" cy="777240"/>
          </a:xfrm>
          <a:prstGeom prst="roundRect">
            <a:avLst>
              <a:gd name="adj" fmla="val 11429"/>
            </a:avLst>
          </a:prstGeom>
          <a:solidFill>
            <a:srgbClr val="06B6D4"/>
          </a:solidFill>
          <a:ln/>
        </p:spPr>
      </p:sp>
      <p:sp>
        <p:nvSpPr>
          <p:cNvPr id="48" name="Shape 46"/>
          <p:cNvSpPr/>
          <p:nvPr/>
        </p:nvSpPr>
        <p:spPr>
          <a:xfrm>
            <a:off x="10378440" y="3017520"/>
            <a:ext cx="320040" cy="50292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81360" y="2651760"/>
            <a:ext cx="320040" cy="868680"/>
          </a:xfrm>
          <a:prstGeom prst="roundRect">
            <a:avLst>
              <a:gd name="adj" fmla="val 11429"/>
            </a:avLst>
          </a:prstGeom>
          <a:solidFill>
            <a:srgbClr val="EC4899"/>
          </a:solidFill>
          <a:ln/>
        </p:spPr>
      </p:sp>
      <p:sp>
        <p:nvSpPr>
          <p:cNvPr id="50" name="Shape 48"/>
          <p:cNvSpPr/>
          <p:nvPr/>
        </p:nvSpPr>
        <p:spPr>
          <a:xfrm>
            <a:off x="8138160" y="3840480"/>
            <a:ext cx="3383280" cy="16459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8275320" y="39136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Sovdelesmeler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75320" y="4206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Corp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9372600" y="4206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$45,000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10469880" y="4206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Danisiq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275320" y="4498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LLC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9372600" y="4498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10469880" y="4498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Teklif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8275320" y="4791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Ltd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9372600" y="4791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$67,000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10469880" y="4791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Uduldu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8275320" y="50840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Co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9372600" y="50840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10469880" y="50840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Haqqinda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LeadDrive CRM — IT autsorsing sirketleri ucun tam funksional SaaS CRM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Sehife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15544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346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5544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1206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5544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066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xususiyyeti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92640" y="15544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926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 (Inbox)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92608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66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Satis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Lidler, kontaktlar, sirketler, sovdelesmeler, kanban, coxlu pipeline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29000" y="292608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11880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1188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Marketinq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3977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Kampaniyalar, seqmentler, journey builder, A/B test, email sablonlar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09360" y="292608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 &amp; Inbox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3977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Tiketler, SLA, bilik bazasi, WhatsApp, Telegram, Facebook, Email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89720" y="292608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372600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93726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726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Maliyye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72600" y="3977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Fakturalar, muqavileler, budceleme, rentabellik, xerc modeli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48463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31520" y="50292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C4899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" y="5623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Da Vinci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1520" y="5897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agentler, lid skorinq, proqnozlasdirma, next best action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29000" y="48463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11880" y="50292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361188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11880" y="5623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611880" y="5897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API keys, webhooks, RBAC, audit log, custom fields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09360" y="48463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92240" y="50292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97316"/>
          </a:solidFill>
          <a:ln/>
        </p:spPr>
      </p:sp>
      <p:sp>
        <p:nvSpPr>
          <p:cNvPr id="54" name="Text 52"/>
          <p:cNvSpPr/>
          <p:nvPr/>
        </p:nvSpPr>
        <p:spPr>
          <a:xfrm>
            <a:off x="64922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92240" y="5623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Hesabatlar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92240" y="5897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funnel, CSAT, SLA, gelir trendi, 10+ hazir hesabat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189720" y="48463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372600" y="50292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4444"/>
          </a:solidFill>
          <a:ln/>
        </p:spPr>
      </p:sp>
      <p:sp>
        <p:nvSpPr>
          <p:cNvPr id="59" name="Text 57"/>
          <p:cNvSpPr/>
          <p:nvPr/>
        </p:nvSpPr>
        <p:spPr>
          <a:xfrm>
            <a:off x="937260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372600" y="5623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Avtomatlasma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72600" y="5897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engine, rule-based triggers, 7 emeliyyat novu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Satis Idareetmesi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Lidlerden sovdelesmelere — butun satis prosesi bir yerde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" cy="5486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27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Idare Paneli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KPI, gelir trendi, pipeline, AI tovsiyeler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48840"/>
            <a:ext cx="54864" cy="5486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67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Sirketler &amp; Kontaktlar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423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Profil, tarixce, CSV idxali, engagement skor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788920"/>
            <a:ext cx="54864" cy="5486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072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Sovdelesmeler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+ cedvel, coxlu pipeline, weighted probability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429000"/>
            <a:ext cx="54864" cy="5486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472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Lidler &amp; AI Skorinq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A-F derece, konversiya ehtimali %, auto-assignment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069080"/>
            <a:ext cx="54864" cy="5486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087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Tapshiriqlar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343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Siyahi + Kanban + teqvim, prioritet, son tarix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709160"/>
            <a:ext cx="54864" cy="5486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7274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Muqavileler &amp; Teklifler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983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generasiya, bitme xeberdarligi, e-poctle gondermek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534924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5349240"/>
            <a:ext cx="54864" cy="5486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367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Mehsullar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5623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Kataloq, qiymet tarixi, sovdelesmeye baglama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598932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5989320"/>
            <a:ext cx="54864" cy="5486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6007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Proqnozlasdirma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6263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pipeline, kvota izleme, AI proqnoz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7296" y="1453896"/>
            <a:ext cx="6035040" cy="5029200"/>
          </a:xfrm>
          <a:prstGeom prst="roundRect">
            <a:avLst>
              <a:gd name="adj" fmla="val 2182"/>
            </a:avLst>
          </a:prstGeom>
          <a:solidFill>
            <a:srgbClr val="000000">
              <a:alpha val="1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60720" y="1417320"/>
            <a:ext cx="60350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60720" y="1417320"/>
            <a:ext cx="6035040" cy="36576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5760720" y="1600200"/>
            <a:ext cx="603504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Shape 41"/>
          <p:cNvSpPr/>
          <p:nvPr/>
        </p:nvSpPr>
        <p:spPr>
          <a:xfrm>
            <a:off x="5943600" y="152704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4" name="Shape 42"/>
          <p:cNvSpPr/>
          <p:nvPr/>
        </p:nvSpPr>
        <p:spPr>
          <a:xfrm>
            <a:off x="6144768" y="1527048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5" name="Shape 43"/>
          <p:cNvSpPr/>
          <p:nvPr/>
        </p:nvSpPr>
        <p:spPr>
          <a:xfrm>
            <a:off x="6345936" y="152704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1463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Sovdelesmeler — Kanban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60720" y="1783080"/>
            <a:ext cx="914400" cy="4663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5852160" y="18745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70448" y="21488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870448" y="238658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Sirketler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870448" y="262432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Kontaktlar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806440" y="286207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0066FF"/>
          </a:solidFill>
          <a:ln/>
        </p:spPr>
      </p:sp>
      <p:sp>
        <p:nvSpPr>
          <p:cNvPr id="53" name="Text 51"/>
          <p:cNvSpPr/>
          <p:nvPr/>
        </p:nvSpPr>
        <p:spPr>
          <a:xfrm>
            <a:off x="5870448" y="28620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Sovdeles..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870448" y="309981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Lidler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870448" y="33375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6812280" y="19202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/>
        </p:spPr>
      </p:sp>
      <p:sp>
        <p:nvSpPr>
          <p:cNvPr id="57" name="Shape 55"/>
          <p:cNvSpPr/>
          <p:nvPr/>
        </p:nvSpPr>
        <p:spPr>
          <a:xfrm>
            <a:off x="6858000" y="1965960"/>
            <a:ext cx="164592" cy="16459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8" name="Text 56"/>
          <p:cNvSpPr/>
          <p:nvPr/>
        </p:nvSpPr>
        <p:spPr>
          <a:xfrm>
            <a:off x="7059168" y="1920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Lead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7708392" y="192024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6812280" y="228600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85432" y="2331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Azercell MMC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885432" y="25420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$45,000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525512" y="2542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885432" y="2788920"/>
            <a:ext cx="987552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65" name="Shape 63"/>
          <p:cNvSpPr/>
          <p:nvPr/>
        </p:nvSpPr>
        <p:spPr>
          <a:xfrm>
            <a:off x="6885432" y="2788920"/>
            <a:ext cx="197510" cy="7315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66" name="Shape 64"/>
          <p:cNvSpPr/>
          <p:nvPr/>
        </p:nvSpPr>
        <p:spPr>
          <a:xfrm>
            <a:off x="6812280" y="310896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85432" y="31546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SOCAR Trading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885432" y="33649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$120,000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525512" y="33649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885432" y="3611880"/>
            <a:ext cx="987552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71" name="Shape 69"/>
          <p:cNvSpPr/>
          <p:nvPr/>
        </p:nvSpPr>
        <p:spPr>
          <a:xfrm>
            <a:off x="6885432" y="3611880"/>
            <a:ext cx="148133" cy="7315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72" name="Shape 70"/>
          <p:cNvSpPr/>
          <p:nvPr/>
        </p:nvSpPr>
        <p:spPr>
          <a:xfrm>
            <a:off x="8046720" y="19202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/>
        </p:spPr>
      </p:sp>
      <p:sp>
        <p:nvSpPr>
          <p:cNvPr id="73" name="Shape 71"/>
          <p:cNvSpPr/>
          <p:nvPr/>
        </p:nvSpPr>
        <p:spPr>
          <a:xfrm>
            <a:off x="8092440" y="19659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8293608" y="1920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Teklif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8942832" y="192024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046720" y="228600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19872" y="2331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Pasha Bank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8119872" y="25420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$85,000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759952" y="2542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119872" y="2788920"/>
            <a:ext cx="987552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81" name="Shape 79"/>
          <p:cNvSpPr/>
          <p:nvPr/>
        </p:nvSpPr>
        <p:spPr>
          <a:xfrm>
            <a:off x="8119872" y="2788920"/>
            <a:ext cx="493776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82" name="Shape 80"/>
          <p:cNvSpPr/>
          <p:nvPr/>
        </p:nvSpPr>
        <p:spPr>
          <a:xfrm>
            <a:off x="9281160" y="19202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/>
        </p:spPr>
      </p:sp>
      <p:sp>
        <p:nvSpPr>
          <p:cNvPr id="83" name="Shape 81"/>
          <p:cNvSpPr/>
          <p:nvPr/>
        </p:nvSpPr>
        <p:spPr>
          <a:xfrm>
            <a:off x="9326880" y="19659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4" name="Text 82"/>
          <p:cNvSpPr/>
          <p:nvPr/>
        </p:nvSpPr>
        <p:spPr>
          <a:xfrm>
            <a:off x="9528048" y="1920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Danisiq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10177272" y="192024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9281160" y="228600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354312" y="2331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 Bank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9354312" y="25420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$67,000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9994392" y="2542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9354312" y="2788920"/>
            <a:ext cx="987552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91" name="Shape 89"/>
          <p:cNvSpPr/>
          <p:nvPr/>
        </p:nvSpPr>
        <p:spPr>
          <a:xfrm>
            <a:off x="9354312" y="2788920"/>
            <a:ext cx="69128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92" name="Shape 90"/>
          <p:cNvSpPr/>
          <p:nvPr/>
        </p:nvSpPr>
        <p:spPr>
          <a:xfrm>
            <a:off x="9281160" y="310896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354312" y="31546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Sigorta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9354312" y="33649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$34,000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9994392" y="33649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354312" y="3611880"/>
            <a:ext cx="987552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97" name="Shape 95"/>
          <p:cNvSpPr/>
          <p:nvPr/>
        </p:nvSpPr>
        <p:spPr>
          <a:xfrm>
            <a:off x="9354312" y="3611880"/>
            <a:ext cx="641909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98" name="Shape 96"/>
          <p:cNvSpPr/>
          <p:nvPr/>
        </p:nvSpPr>
        <p:spPr>
          <a:xfrm>
            <a:off x="10515600" y="19202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/>
        </p:spPr>
      </p:sp>
      <p:sp>
        <p:nvSpPr>
          <p:cNvPr id="99" name="Shape 97"/>
          <p:cNvSpPr/>
          <p:nvPr/>
        </p:nvSpPr>
        <p:spPr>
          <a:xfrm>
            <a:off x="10561320" y="19659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0" name="Text 98"/>
          <p:cNvSpPr/>
          <p:nvPr/>
        </p:nvSpPr>
        <p:spPr>
          <a:xfrm>
            <a:off x="10762488" y="1920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Uduldu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11411712" y="192024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10515600" y="228600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588752" y="2331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AzerGold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10588752" y="25420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$156,000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11228832" y="2542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10588752" y="2788920"/>
            <a:ext cx="987552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588752" y="2788920"/>
            <a:ext cx="987552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812280" y="539496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/>
        </p:spPr>
      </p:sp>
      <p:sp>
        <p:nvSpPr>
          <p:cNvPr id="109" name="Text 107"/>
          <p:cNvSpPr/>
          <p:nvPr/>
        </p:nvSpPr>
        <p:spPr>
          <a:xfrm>
            <a:off x="6949440" y="5440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Xulasesi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6949440" y="5669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$507,000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6949440" y="58704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Umumi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8138160" y="5669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$289,350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8138160" y="58704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9326880" y="5669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$156,000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9326880" y="58704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Udulmus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10515600" y="5669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10515600" y="58704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Konversiya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Marketinq Avtomatlasması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Kampaniyalardan seqmentlere — musteri seferi tam idareetme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" y="1545336"/>
            <a:ext cx="6400800" cy="5029200"/>
          </a:xfrm>
          <a:prstGeom prst="roundRect">
            <a:avLst>
              <a:gd name="adj" fmla="val 2182"/>
            </a:avLst>
          </a:prstGeom>
          <a:solidFill>
            <a:srgbClr val="000000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08760"/>
            <a:ext cx="640080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6400800" cy="36576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91640"/>
            <a:ext cx="64008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61848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1618488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2416" y="161848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Kampaniyalar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914400" cy="4663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65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2920" y="224028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2402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Kampaniyalar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566928" y="247802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Seqmentler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566928" y="27157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Sablonlar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566928" y="295351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566928" y="319125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566928" y="34290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Skorinq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1600200" y="1965960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73352" y="1993392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73352" y="2267712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788920" y="1965960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1993392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45,230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62072" y="2267712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Gonderildi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977640" y="1965960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0792" y="1993392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50792" y="2267712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Acilma %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166360" y="1965960"/>
            <a:ext cx="1097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9512" y="1993392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9512" y="2267712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%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600200" y="2697480"/>
            <a:ext cx="512064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1691640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Kampaniya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42032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92424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Gonderildi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242816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Acilma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93208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943600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1600200" y="3017520"/>
            <a:ext cx="5120640" cy="347472"/>
          </a:xfrm>
          <a:prstGeom prst="rect">
            <a:avLst/>
          </a:prstGeom>
          <a:solidFill>
            <a:srgbClr val="F8FAFC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691640" y="30175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il kampaniyasi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542032" y="30175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392424" y="30175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12,450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242816" y="30175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42.1%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093208" y="30175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5943600" y="30175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+340%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691640" y="3364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Novruz endirimi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2542032" y="3364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392424" y="3364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8,200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242816" y="3364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38.7%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093208" y="3364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943600" y="3364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+210%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600200" y="3712464"/>
            <a:ext cx="5120640" cy="347472"/>
          </a:xfrm>
          <a:prstGeom prst="rect">
            <a:avLst/>
          </a:prstGeom>
          <a:solidFill>
            <a:srgbClr val="F8FAFC">
              <a:alpha val="5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691640" y="37124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Mehsul yenilemesi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542032" y="37124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392424" y="37124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242816" y="37124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093208" y="37124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943600" y="37124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691640" y="40599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devet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542032" y="40599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Planli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392424" y="40599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242816" y="40599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5093208" y="40599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943600" y="40599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1600200" y="4407408"/>
            <a:ext cx="5120640" cy="347472"/>
          </a:xfrm>
          <a:prstGeom prst="rect">
            <a:avLst/>
          </a:prstGeom>
          <a:solidFill>
            <a:srgbClr val="F8FAFC">
              <a:alpha val="5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691640" y="44074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proqrami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542032" y="44074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Bitib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3392424" y="44074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5,100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242816" y="44074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35.4%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5093208" y="44074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5943600" y="44074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+180%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1600200" y="484632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37360" y="4892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E-poct Sablonu Preview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737360" y="5138928"/>
            <a:ext cx="2286000" cy="109728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/>
        </p:spPr>
      </p:sp>
      <p:sp>
        <p:nvSpPr>
          <p:cNvPr id="79" name="Text 77"/>
          <p:cNvSpPr/>
          <p:nvPr/>
        </p:nvSpPr>
        <p:spPr>
          <a:xfrm>
            <a:off x="1828800" y="5212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Salam {{ad}},</a:t>
            </a:r>
            <a:endParaRPr lang="en-US" sz="600" dirty="0"/>
          </a:p>
          <a:p>
            <a:pPr indent="0" marL="0">
              <a:lnSpc>
                <a:spcPct val="150000"/>
              </a:lnSpc>
              <a:buNone/>
            </a:pPr>
            <a:endParaRPr lang="en-US" sz="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imkanlarimizdan</a:t>
            </a:r>
            <a:endParaRPr lang="en-US" sz="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xeberdarsiz?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4251960" y="5138928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0066FF"/>
          </a:solidFill>
          <a:ln/>
        </p:spPr>
      </p:sp>
      <p:sp>
        <p:nvSpPr>
          <p:cNvPr id="81" name="Text 79"/>
          <p:cNvSpPr/>
          <p:nvPr/>
        </p:nvSpPr>
        <p:spPr>
          <a:xfrm>
            <a:off x="4251960" y="51389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4983480" y="5138928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/>
        </p:spPr>
      </p:sp>
      <p:sp>
        <p:nvSpPr>
          <p:cNvPr id="83" name="Text 81"/>
          <p:cNvSpPr/>
          <p:nvPr/>
        </p:nvSpPr>
        <p:spPr>
          <a:xfrm>
            <a:off x="4983480" y="51389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7132320" y="150876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132320" y="1508760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6" name="Text 84"/>
          <p:cNvSpPr/>
          <p:nvPr/>
        </p:nvSpPr>
        <p:spPr>
          <a:xfrm>
            <a:off x="7315200" y="153619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Kampaniyalar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7315200" y="17830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E-poct/SMS, A/B test, planlasdirma, statistika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132320" y="2167128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7132320" y="2167128"/>
            <a:ext cx="54864" cy="5669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0" name="Text 88"/>
          <p:cNvSpPr/>
          <p:nvPr/>
        </p:nvSpPr>
        <p:spPr>
          <a:xfrm>
            <a:off x="7315200" y="219456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Seqmentler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315200" y="244144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Dinamik, 9+ sert novu, davranis esasli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132320" y="2825496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7132320" y="2825496"/>
            <a:ext cx="54864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4" name="Text 92"/>
          <p:cNvSpPr/>
          <p:nvPr/>
        </p:nvSpPr>
        <p:spPr>
          <a:xfrm>
            <a:off x="7315200" y="28529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Sablonlar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7315200" y="309981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redaktor, deyisenler, preview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132320" y="3483864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7132320" y="3483864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8" name="Text 96"/>
          <p:cNvSpPr/>
          <p:nvPr/>
        </p:nvSpPr>
        <p:spPr>
          <a:xfrm>
            <a:off x="7315200" y="351129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Journeys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7315200" y="375818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 flow, 8 addim, trigger, branching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132320" y="4142232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7132320" y="4142232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2" name="Text 100"/>
          <p:cNvSpPr/>
          <p:nvPr/>
        </p:nvSpPr>
        <p:spPr>
          <a:xfrm>
            <a:off x="7315200" y="416966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Kampaniya ROI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7315200" y="44165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Xerc -&gt; lidler -&gt; gelir analizi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7132320" y="480060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7132320" y="4800600"/>
            <a:ext cx="54864" cy="5669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6" name="Text 104"/>
          <p:cNvSpPr/>
          <p:nvPr/>
        </p:nvSpPr>
        <p:spPr>
          <a:xfrm>
            <a:off x="7315200" y="482803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Lid Skorinq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7315200" y="50749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faktor, A-F derece, konversiya %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7132320" y="5458968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7132320" y="5458968"/>
            <a:ext cx="54864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0" name="Text 108"/>
          <p:cNvSpPr/>
          <p:nvPr/>
        </p:nvSpPr>
        <p:spPr>
          <a:xfrm>
            <a:off x="7315200" y="548640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Tedbirler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7315200" y="57332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Qeydiyyat sehifesi, ICS, auto-kontakt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7132320" y="6117336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7132320" y="6117336"/>
            <a:ext cx="54864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4" name="Text 112"/>
          <p:cNvSpPr/>
          <p:nvPr/>
        </p:nvSpPr>
        <p:spPr>
          <a:xfrm>
            <a:off x="7315200" y="614476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E-poct Loqu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7315200" y="639165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Butun gondermeler/almalar tarixi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Musteri Desteki &amp; Unified Inbox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Butun kanallar bir yerde — tiketler, SLA, omnichannel kommunikasiya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0020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270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Tiket Sistemi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7647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+ cedvel, prioritet, assign, status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9456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1214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Izleme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359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geri sayim, avtomatik eskalasiya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78892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7157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Bilik Bazasi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9535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Meqaleler, axtaris, portal ucun aciq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832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3101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Desktop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547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360, makroslar, klaviatura qisayollari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9776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9044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 Reytinqi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1422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Musteri memnuniyyeti sorgusu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57200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4988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Eskalasiya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4736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L1-L5, avtomatik prioritet artirma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Qosulmus Kanallar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486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006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486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1143000" y="5486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5D366"/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" y="5486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1828800" y="5486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0088CC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0" y="5486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514600" y="5486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877F2"/>
          </a:solidFill>
          <a:ln/>
        </p:spPr>
      </p:sp>
      <p:sp>
        <p:nvSpPr>
          <p:cNvPr id="39" name="Text 37"/>
          <p:cNvSpPr/>
          <p:nvPr/>
        </p:nvSpPr>
        <p:spPr>
          <a:xfrm>
            <a:off x="2514600" y="5486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00400" y="5486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E4405F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5486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886200" y="5486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3886200" y="5486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572000" y="5486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4680C2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0" y="5486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5340096" y="1453896"/>
            <a:ext cx="6492240" cy="5120640"/>
          </a:xfrm>
          <a:prstGeom prst="roundRect">
            <a:avLst>
              <a:gd name="adj" fmla="val 2143"/>
            </a:avLst>
          </a:prstGeom>
          <a:solidFill>
            <a:srgbClr val="000000">
              <a:alpha val="1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03520" y="1417320"/>
            <a:ext cx="64922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0" y="1417320"/>
            <a:ext cx="6492240" cy="36576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/>
        </p:spPr>
      </p:sp>
      <p:sp>
        <p:nvSpPr>
          <p:cNvPr id="49" name="Shape 47"/>
          <p:cNvSpPr/>
          <p:nvPr/>
        </p:nvSpPr>
        <p:spPr>
          <a:xfrm>
            <a:off x="5303520" y="1600200"/>
            <a:ext cx="649224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0" y="152704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1" name="Shape 49"/>
          <p:cNvSpPr/>
          <p:nvPr/>
        </p:nvSpPr>
        <p:spPr>
          <a:xfrm>
            <a:off x="5687568" y="1527048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52" name="Shape 50"/>
          <p:cNvSpPr/>
          <p:nvPr/>
        </p:nvSpPr>
        <p:spPr>
          <a:xfrm>
            <a:off x="5888736" y="152704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53" name="Text 51"/>
          <p:cNvSpPr/>
          <p:nvPr/>
        </p:nvSpPr>
        <p:spPr>
          <a:xfrm>
            <a:off x="6217920" y="1463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Inbox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303520" y="1783080"/>
            <a:ext cx="731520" cy="47548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5" name="Text 53"/>
          <p:cNvSpPr/>
          <p:nvPr/>
        </p:nvSpPr>
        <p:spPr>
          <a:xfrm>
            <a:off x="5376672" y="184708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217920" y="184708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0066FF"/>
          </a:solidFill>
          <a:ln/>
        </p:spPr>
      </p:sp>
      <p:sp>
        <p:nvSpPr>
          <p:cNvPr id="57" name="Text 55"/>
          <p:cNvSpPr/>
          <p:nvPr/>
        </p:nvSpPr>
        <p:spPr>
          <a:xfrm>
            <a:off x="6217920" y="18470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Hamisi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812280" y="184708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6812280" y="18470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7406640" y="184708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7406640" y="18470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8001000" y="184708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</p:sp>
      <p:sp>
        <p:nvSpPr>
          <p:cNvPr id="63" name="Text 61"/>
          <p:cNvSpPr/>
          <p:nvPr/>
        </p:nvSpPr>
        <p:spPr>
          <a:xfrm>
            <a:off x="8001000" y="18470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8595360" y="184708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</p:sp>
      <p:sp>
        <p:nvSpPr>
          <p:cNvPr id="65" name="Text 63"/>
          <p:cNvSpPr/>
          <p:nvPr/>
        </p:nvSpPr>
        <p:spPr>
          <a:xfrm>
            <a:off x="8595360" y="18470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6126480" y="2103120"/>
            <a:ext cx="210312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26480" y="2148840"/>
            <a:ext cx="2103120" cy="5760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8" name="Shape 66"/>
          <p:cNvSpPr/>
          <p:nvPr/>
        </p:nvSpPr>
        <p:spPr>
          <a:xfrm>
            <a:off x="6199632" y="2221992"/>
            <a:ext cx="320040" cy="32004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69" name="Text 67"/>
          <p:cNvSpPr/>
          <p:nvPr/>
        </p:nvSpPr>
        <p:spPr>
          <a:xfrm>
            <a:off x="6199632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583680" y="21945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Elvin Mammadov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583680" y="23774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Salam, qiymet barede...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7818120" y="21945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14:23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7818120" y="2395728"/>
            <a:ext cx="320040" cy="137160"/>
          </a:xfrm>
          <a:prstGeom prst="roundRect">
            <a:avLst>
              <a:gd name="adj" fmla="val 26667"/>
            </a:avLst>
          </a:prstGeom>
          <a:solidFill>
            <a:srgbClr val="25D366"/>
          </a:solidFill>
          <a:ln/>
        </p:spPr>
      </p:sp>
      <p:sp>
        <p:nvSpPr>
          <p:cNvPr id="74" name="Text 72"/>
          <p:cNvSpPr/>
          <p:nvPr/>
        </p:nvSpPr>
        <p:spPr>
          <a:xfrm>
            <a:off x="7818120" y="2395728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6199632" y="2798064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6" name="Text 74"/>
          <p:cNvSpPr/>
          <p:nvPr/>
        </p:nvSpPr>
        <p:spPr>
          <a:xfrm>
            <a:off x="6199632" y="2798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6583680" y="27706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Kamala Hesenova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583680" y="295351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Tesekkur edirem!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7818120" y="277063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13:45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7818120" y="2971800"/>
            <a:ext cx="320040" cy="137160"/>
          </a:xfrm>
          <a:prstGeom prst="roundRect">
            <a:avLst>
              <a:gd name="adj" fmla="val 26667"/>
            </a:avLst>
          </a:prstGeom>
          <a:solidFill>
            <a:srgbClr val="0066FF"/>
          </a:solidFill>
          <a:ln/>
        </p:spPr>
      </p:sp>
      <p:sp>
        <p:nvSpPr>
          <p:cNvPr id="81" name="Text 79"/>
          <p:cNvSpPr/>
          <p:nvPr/>
        </p:nvSpPr>
        <p:spPr>
          <a:xfrm>
            <a:off x="7818120" y="297180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6199632" y="3374136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3" name="Text 81"/>
          <p:cNvSpPr/>
          <p:nvPr/>
        </p:nvSpPr>
        <p:spPr>
          <a:xfrm>
            <a:off x="6199632" y="33741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6583680" y="33467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Tural Aliyev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583680" y="35295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ne vaxt olacaq?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7818120" y="33467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12:10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7818120" y="3547872"/>
            <a:ext cx="320040" cy="137160"/>
          </a:xfrm>
          <a:prstGeom prst="roundRect">
            <a:avLst>
              <a:gd name="adj" fmla="val 26667"/>
            </a:avLst>
          </a:prstGeom>
          <a:solidFill>
            <a:srgbClr val="0088CC"/>
          </a:solidFill>
          <a:ln/>
        </p:spPr>
      </p:sp>
      <p:sp>
        <p:nvSpPr>
          <p:cNvPr id="88" name="Text 86"/>
          <p:cNvSpPr/>
          <p:nvPr/>
        </p:nvSpPr>
        <p:spPr>
          <a:xfrm>
            <a:off x="7818120" y="3547872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6199632" y="395020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0" name="Text 88"/>
          <p:cNvSpPr/>
          <p:nvPr/>
        </p:nvSpPr>
        <p:spPr>
          <a:xfrm>
            <a:off x="6199632" y="3950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6583680" y="39227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Nigar Babayeva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6583680" y="41056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Faktura gonderin zehmet...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7818120" y="392277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11:30</a:t>
            </a:r>
            <a:endParaRPr lang="en-US" sz="550" dirty="0"/>
          </a:p>
        </p:txBody>
      </p:sp>
      <p:sp>
        <p:nvSpPr>
          <p:cNvPr id="94" name="Shape 92"/>
          <p:cNvSpPr/>
          <p:nvPr/>
        </p:nvSpPr>
        <p:spPr>
          <a:xfrm>
            <a:off x="7818120" y="4123944"/>
            <a:ext cx="320040" cy="137160"/>
          </a:xfrm>
          <a:prstGeom prst="roundRect">
            <a:avLst>
              <a:gd name="adj" fmla="val 26667"/>
            </a:avLst>
          </a:prstGeom>
          <a:solidFill>
            <a:srgbClr val="0066FF"/>
          </a:solidFill>
          <a:ln/>
        </p:spPr>
      </p:sp>
      <p:sp>
        <p:nvSpPr>
          <p:cNvPr id="95" name="Text 93"/>
          <p:cNvSpPr/>
          <p:nvPr/>
        </p:nvSpPr>
        <p:spPr>
          <a:xfrm>
            <a:off x="7818120" y="4123944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500" dirty="0"/>
          </a:p>
        </p:txBody>
      </p:sp>
      <p:sp>
        <p:nvSpPr>
          <p:cNvPr id="96" name="Shape 94"/>
          <p:cNvSpPr/>
          <p:nvPr/>
        </p:nvSpPr>
        <p:spPr>
          <a:xfrm>
            <a:off x="6199632" y="452628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7" name="Text 95"/>
          <p:cNvSpPr/>
          <p:nvPr/>
        </p:nvSpPr>
        <p:spPr>
          <a:xfrm>
            <a:off x="6199632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6583680" y="4498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Rashad Veliyev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6583680" y="46817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Inteqrasiya mumkundur?</a:t>
            </a:r>
            <a:endParaRPr lang="en-US" sz="600" dirty="0"/>
          </a:p>
        </p:txBody>
      </p:sp>
      <p:sp>
        <p:nvSpPr>
          <p:cNvPr id="100" name="Text 98"/>
          <p:cNvSpPr/>
          <p:nvPr/>
        </p:nvSpPr>
        <p:spPr>
          <a:xfrm>
            <a:off x="7818120" y="44988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10:55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7818120" y="4700016"/>
            <a:ext cx="320040" cy="137160"/>
          </a:xfrm>
          <a:prstGeom prst="roundRect">
            <a:avLst>
              <a:gd name="adj" fmla="val 26667"/>
            </a:avLst>
          </a:prstGeom>
          <a:solidFill>
            <a:srgbClr val="1877F2"/>
          </a:solidFill>
          <a:ln/>
        </p:spPr>
      </p:sp>
      <p:sp>
        <p:nvSpPr>
          <p:cNvPr id="102" name="Text 100"/>
          <p:cNvSpPr/>
          <p:nvPr/>
        </p:nvSpPr>
        <p:spPr>
          <a:xfrm>
            <a:off x="7818120" y="4700016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</a:t>
            </a:r>
            <a:endParaRPr lang="en-US" sz="500" dirty="0"/>
          </a:p>
        </p:txBody>
      </p:sp>
      <p:sp>
        <p:nvSpPr>
          <p:cNvPr id="103" name="Shape 101"/>
          <p:cNvSpPr/>
          <p:nvPr/>
        </p:nvSpPr>
        <p:spPr>
          <a:xfrm>
            <a:off x="6199632" y="510235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4" name="Text 102"/>
          <p:cNvSpPr/>
          <p:nvPr/>
        </p:nvSpPr>
        <p:spPr>
          <a:xfrm>
            <a:off x="6199632" y="5102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6583680" y="50749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Sevda Alizada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6583680" y="52578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Xidmet haqqinda...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7818120" y="50749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09:20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7818120" y="5276088"/>
            <a:ext cx="320040" cy="137160"/>
          </a:xfrm>
          <a:prstGeom prst="roundRect">
            <a:avLst>
              <a:gd name="adj" fmla="val 26667"/>
            </a:avLst>
          </a:prstGeom>
          <a:solidFill>
            <a:srgbClr val="25D366"/>
          </a:solidFill>
          <a:ln/>
        </p:spPr>
      </p:sp>
      <p:sp>
        <p:nvSpPr>
          <p:cNvPr id="109" name="Text 107"/>
          <p:cNvSpPr/>
          <p:nvPr/>
        </p:nvSpPr>
        <p:spPr>
          <a:xfrm>
            <a:off x="7818120" y="5276088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500" dirty="0"/>
          </a:p>
        </p:txBody>
      </p:sp>
      <p:sp>
        <p:nvSpPr>
          <p:cNvPr id="110" name="Shape 108"/>
          <p:cNvSpPr/>
          <p:nvPr/>
        </p:nvSpPr>
        <p:spPr>
          <a:xfrm>
            <a:off x="6199632" y="5678424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1" name="Text 109"/>
          <p:cNvSpPr/>
          <p:nvPr/>
        </p:nvSpPr>
        <p:spPr>
          <a:xfrm>
            <a:off x="6199632" y="56784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6583680" y="56509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Farid Huseynov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6583680" y="583387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Tedbir qeydiyyati</a:t>
            </a:r>
            <a:endParaRPr lang="en-US" sz="600" dirty="0"/>
          </a:p>
        </p:txBody>
      </p:sp>
      <p:sp>
        <p:nvSpPr>
          <p:cNvPr id="114" name="Text 112"/>
          <p:cNvSpPr/>
          <p:nvPr/>
        </p:nvSpPr>
        <p:spPr>
          <a:xfrm>
            <a:off x="7818120" y="565099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Dunən</a:t>
            </a:r>
            <a:endParaRPr lang="en-US" sz="550" dirty="0"/>
          </a:p>
        </p:txBody>
      </p:sp>
      <p:sp>
        <p:nvSpPr>
          <p:cNvPr id="115" name="Shape 113"/>
          <p:cNvSpPr/>
          <p:nvPr/>
        </p:nvSpPr>
        <p:spPr>
          <a:xfrm>
            <a:off x="7818120" y="5852160"/>
            <a:ext cx="320040" cy="137160"/>
          </a:xfrm>
          <a:prstGeom prst="roundRect">
            <a:avLst>
              <a:gd name="adj" fmla="val 26667"/>
            </a:avLst>
          </a:prstGeom>
          <a:solidFill>
            <a:srgbClr val="0066FF"/>
          </a:solidFill>
          <a:ln/>
        </p:spPr>
      </p:sp>
      <p:sp>
        <p:nvSpPr>
          <p:cNvPr id="116" name="Text 114"/>
          <p:cNvSpPr/>
          <p:nvPr/>
        </p:nvSpPr>
        <p:spPr>
          <a:xfrm>
            <a:off x="7818120" y="585216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500" dirty="0"/>
          </a:p>
        </p:txBody>
      </p:sp>
      <p:sp>
        <p:nvSpPr>
          <p:cNvPr id="117" name="Shape 115"/>
          <p:cNvSpPr/>
          <p:nvPr/>
        </p:nvSpPr>
        <p:spPr>
          <a:xfrm>
            <a:off x="8321040" y="2103120"/>
            <a:ext cx="329184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321040" y="2103120"/>
            <a:ext cx="329184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8412480" y="2148840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20" name="Text 118"/>
          <p:cNvSpPr/>
          <p:nvPr/>
        </p:nvSpPr>
        <p:spPr>
          <a:xfrm>
            <a:off x="841248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8759952" y="21488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Elvin Mammadov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8759952" y="2313432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 •  Onlayn</a:t>
            </a: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8458200" y="2651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/>
        </p:spPr>
      </p:sp>
      <p:sp>
        <p:nvSpPr>
          <p:cNvPr id="124" name="Text 122"/>
          <p:cNvSpPr/>
          <p:nvPr/>
        </p:nvSpPr>
        <p:spPr>
          <a:xfrm>
            <a:off x="8549640" y="26791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Salam, CRM sisteminiz barede</a:t>
            </a:r>
            <a:endParaRPr lang="en-US" sz="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melumat ala bilerem?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9418320" y="32004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066FF"/>
          </a:solidFill>
          <a:ln/>
        </p:spPr>
      </p:sp>
      <p:sp>
        <p:nvSpPr>
          <p:cNvPr id="126" name="Text 124"/>
          <p:cNvSpPr/>
          <p:nvPr/>
        </p:nvSpPr>
        <p:spPr>
          <a:xfrm>
            <a:off x="9509760" y="32278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Salam Elvin bey! Elbette.</a:t>
            </a:r>
            <a:endParaRPr lang="en-US" sz="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 modullar sizi maraqlandirir?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8458200" y="37490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/>
        </p:spPr>
      </p:sp>
      <p:sp>
        <p:nvSpPr>
          <p:cNvPr id="128" name="Text 126"/>
          <p:cNvSpPr/>
          <p:nvPr/>
        </p:nvSpPr>
        <p:spPr>
          <a:xfrm>
            <a:off x="8549640" y="37764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 ve maliyye modullari.</a:t>
            </a:r>
            <a:endParaRPr lang="en-US" sz="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Qiymeti ne qederdir?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9418320" y="4297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066FF"/>
          </a:solidFill>
          <a:ln/>
        </p:spPr>
      </p:sp>
      <p:sp>
        <p:nvSpPr>
          <p:cNvPr id="130" name="Text 128"/>
          <p:cNvSpPr/>
          <p:nvPr/>
        </p:nvSpPr>
        <p:spPr>
          <a:xfrm>
            <a:off x="95097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plan ayda __ AZN-den</a:t>
            </a:r>
            <a:endParaRPr lang="en-US" sz="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baslayir. Demo planlasdiraq?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8412480" y="6126480"/>
            <a:ext cx="310896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sp>
        <p:nvSpPr>
          <p:cNvPr id="132" name="Text 130"/>
          <p:cNvSpPr/>
          <p:nvPr/>
        </p:nvSpPr>
        <p:spPr>
          <a:xfrm>
            <a:off x="8549640" y="6126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Mesaj yazin...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Maliyye &amp; Analitika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 bir CRM-de olmayan derin maliyye modulu — LeadDrive-in unikal ustunluyu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" y="1453896"/>
            <a:ext cx="6583680" cy="5120640"/>
          </a:xfrm>
          <a:prstGeom prst="roundRect">
            <a:avLst>
              <a:gd name="adj" fmla="val 2143"/>
            </a:avLst>
          </a:prstGeom>
          <a:solidFill>
            <a:srgbClr val="000000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658368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583680" cy="36576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00200"/>
            <a:ext cx="658368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52704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1527048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2416" y="152704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463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Maliyye Dashboard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731520" cy="47548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84708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417320" y="187452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1874520"/>
            <a:ext cx="12344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196596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22402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Umumi Gelir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194560" y="22402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+12.5%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743200" y="187452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1874520"/>
            <a:ext cx="12344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196596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$340K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34640" y="22402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Odenmemis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520440" y="22402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gun ort.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069080" y="187452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9080" y="1874520"/>
            <a:ext cx="123444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196596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$890K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60520" y="22402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Menfeet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846320" y="22402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+8.3%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394960" y="187452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1874520"/>
            <a:ext cx="12344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196596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22402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Marja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172200" y="22402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+2.1%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417320" y="27889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Ayliq Gelir Trendi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0" y="3995928"/>
            <a:ext cx="274320" cy="301752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627632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2048256" y="3945636"/>
            <a:ext cx="274320" cy="352044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2029968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2450592" y="3794760"/>
            <a:ext cx="274320" cy="502920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2432304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2852928" y="3845052"/>
            <a:ext cx="274320" cy="452628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2834640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3255264" y="3694176"/>
            <a:ext cx="274320" cy="603504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236976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3657600" y="3744468"/>
            <a:ext cx="274320" cy="553212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639312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Iyn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4059936" y="3593592"/>
            <a:ext cx="274320" cy="704088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041648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Iyl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4462272" y="3442716"/>
            <a:ext cx="274320" cy="854964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443984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Avq</a:t>
            </a:r>
            <a:endParaRPr lang="en-US" sz="500" dirty="0"/>
          </a:p>
        </p:txBody>
      </p:sp>
      <p:sp>
        <p:nvSpPr>
          <p:cNvPr id="55" name="Shape 53"/>
          <p:cNvSpPr/>
          <p:nvPr/>
        </p:nvSpPr>
        <p:spPr>
          <a:xfrm>
            <a:off x="4864608" y="3392424"/>
            <a:ext cx="274320" cy="905256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5266944" y="3291840"/>
            <a:ext cx="274320" cy="1005840"/>
          </a:xfrm>
          <a:prstGeom prst="roundRect">
            <a:avLst>
              <a:gd name="adj" fmla="val 13333"/>
            </a:avLst>
          </a:prstGeom>
          <a:solidFill>
            <a:srgbClr val="0066FF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248656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5669280" y="3342132"/>
            <a:ext cx="274320" cy="955548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5650992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Noy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6071616" y="3191256"/>
            <a:ext cx="274320" cy="1106424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6053328" y="4343400"/>
            <a:ext cx="3108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417320" y="47091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Fakturalar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508760" y="4983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2532888" y="4983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Musteri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3557016" y="4983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Mebleg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581144" y="4983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605272" y="4983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Tarix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1508760" y="51937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INV-001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532888" y="51937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Azercell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3557016" y="51937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$45,000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581144" y="51937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Odenildi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5605272" y="51937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2026-03-15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1508760" y="54498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INV-002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2532888" y="54498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SOCAR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3557016" y="54498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$120,000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4581144" y="54498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Gozleyir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5605272" y="54498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2026-03-20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1508760" y="5705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INV-003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2532888" y="5705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Pasha Bank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3557016" y="5705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$85,000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4581144" y="5705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Gecikir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5605272" y="5705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2026-02-28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1508760" y="5961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INV-004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2532888" y="5961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 Bank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3557016" y="5961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$67,000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4581144" y="5961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Odenildi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5605272" y="5961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2026-03-25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7315200" y="14173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7424928" y="15270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92" name="Text 90"/>
          <p:cNvSpPr/>
          <p:nvPr/>
        </p:nvSpPr>
        <p:spPr>
          <a:xfrm>
            <a:off x="7909560" y="1453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Fakturalar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7909560" y="1719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Yaratma, PDF, gondermek, odenis izleme, tekrarlanan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315200" y="21031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7424928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66FF"/>
          </a:solidFill>
          <a:ln/>
        </p:spPr>
      </p:sp>
      <p:sp>
        <p:nvSpPr>
          <p:cNvPr id="96" name="Text 94"/>
          <p:cNvSpPr/>
          <p:nvPr/>
        </p:nvSpPr>
        <p:spPr>
          <a:xfrm>
            <a:off x="7909560" y="2139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Budceleme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909560" y="2404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 uzre, plan vs faktiki, rolling proqnoz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315200" y="27889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7424928" y="2898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100" name="Text 98"/>
          <p:cNvSpPr/>
          <p:nvPr/>
        </p:nvSpPr>
        <p:spPr>
          <a:xfrm>
            <a:off x="7909560" y="2825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Xerc Modeli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7909560" y="30906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Elave xercler, isci xercler, xidmet rentabelliyi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315200" y="34747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7424928" y="35844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04" name="Text 102"/>
          <p:cNvSpPr/>
          <p:nvPr/>
        </p:nvSpPr>
        <p:spPr>
          <a:xfrm>
            <a:off x="7909560" y="3511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Rentabellik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7909560" y="37764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Musteri/xidmet/layihe uzre marja, AI musahideleri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315200" y="41605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7424928" y="42702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108" name="Text 106"/>
          <p:cNvSpPr/>
          <p:nvPr/>
        </p:nvSpPr>
        <p:spPr>
          <a:xfrm>
            <a:off x="7909560" y="4197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Maliyye Panel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7909560" y="44622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A/R, A/P, pul axini, fondlar — hamisi bir yerde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7315200" y="48463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7424928" y="49560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112" name="Text 110"/>
          <p:cNvSpPr/>
          <p:nvPr/>
        </p:nvSpPr>
        <p:spPr>
          <a:xfrm>
            <a:off x="7909560" y="4882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Hesabatlar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7909560" y="5148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funnel, CSAT, SLA, gelir trendi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315200" y="55321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7424928" y="5641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116" name="Text 114"/>
          <p:cNvSpPr/>
          <p:nvPr/>
        </p:nvSpPr>
        <p:spPr>
          <a:xfrm>
            <a:off x="7909560" y="5568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Muqavileler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7909560" y="5833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Fayl elaveleri, bitme xeberdarligi, baglama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7315200" y="62179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7424928" y="6327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C4899"/>
          </a:solidFill>
          <a:ln/>
        </p:spPr>
      </p:sp>
      <p:sp>
        <p:nvSpPr>
          <p:cNvPr id="120" name="Text 118"/>
          <p:cNvSpPr/>
          <p:nvPr/>
        </p:nvSpPr>
        <p:spPr>
          <a:xfrm>
            <a:off x="7909560" y="6254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Proqnoz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7909560" y="65196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esasli gelir proqnozu, weighted pipeline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Suni Intellekt &amp; Avtomatlasma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Vinci — LeadDrive-in AI motoru, Claude (Anthropic) uzerinde qurulmusdur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0292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544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490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Agentler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801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CRM-de emeliyyatlar icra edir: tapshiriq yaratma, sovdelesme yenileme, e-poct gonderme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50292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45059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23865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Lid Skorinq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Hər lidi 5 faktor uzre qiymetlendirir: 0-100 bal, A-F derece, konversiya ehtimali 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209544"/>
            <a:ext cx="50292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34670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6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32826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Proqnozlasdirma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5935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Qazanma ehtimali, gelir proqnozu, churn riski, sovdelesme sureti analizi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105656"/>
            <a:ext cx="50292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424281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242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4178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Best Action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44897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Kontekstual tovsiyeler: zeng edin, follow-up gonderin, merhele yenileyin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5001768"/>
            <a:ext cx="50292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51389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138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5074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53858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Rule-based: trigger -&gt; sert -&gt; emeliyyat. 7 emeliyyat novu, entity triggers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5897880"/>
            <a:ext cx="50292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" y="60350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6035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34440" y="5971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Komanda Merkezi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62819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konfiqurasiyasi, model secimi, token limiti, performans metrikleri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97296" y="1453896"/>
            <a:ext cx="6035040" cy="5120640"/>
          </a:xfrm>
          <a:prstGeom prst="roundRect">
            <a:avLst>
              <a:gd name="adj" fmla="val 2143"/>
            </a:avLst>
          </a:prstGeom>
          <a:solidFill>
            <a:srgbClr val="000000">
              <a:alpha val="1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60720" y="1417320"/>
            <a:ext cx="60350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0720" y="1417320"/>
            <a:ext cx="6035040" cy="36576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5760720" y="1600200"/>
            <a:ext cx="603504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152704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2" name="Shape 40"/>
          <p:cNvSpPr/>
          <p:nvPr/>
        </p:nvSpPr>
        <p:spPr>
          <a:xfrm>
            <a:off x="6144768" y="1527048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3" name="Shape 41"/>
          <p:cNvSpPr/>
          <p:nvPr/>
        </p:nvSpPr>
        <p:spPr>
          <a:xfrm>
            <a:off x="6345936" y="152704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1463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Vinci AI — Komanda Merkezi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60720" y="1783080"/>
            <a:ext cx="731520" cy="47548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5833872" y="184708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720840" y="1874520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12280" y="1901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847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812280" y="2176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Skorlanmis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8001000" y="1901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001000" y="2176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Deqiqlik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189720" y="1901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89720" y="2176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Tovsiye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0378440" y="1901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$2.1M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378440" y="2176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Proqnoz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720840" y="2651760"/>
            <a:ext cx="49377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2697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Lid Skorinq Neticeleri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Azercell MMC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321040" y="3026664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60" name="Shape 58"/>
          <p:cNvSpPr/>
          <p:nvPr/>
        </p:nvSpPr>
        <p:spPr>
          <a:xfrm>
            <a:off x="8321040" y="3026664"/>
            <a:ext cx="1261872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9784080" y="29718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0149840" y="2999232"/>
            <a:ext cx="274320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10149840" y="2999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0515600" y="2971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858000" y="32735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SOCAR Trading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321040" y="3328416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67" name="Shape 65"/>
          <p:cNvSpPr/>
          <p:nvPr/>
        </p:nvSpPr>
        <p:spPr>
          <a:xfrm>
            <a:off x="8321040" y="3328416"/>
            <a:ext cx="1165860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9784080" y="327355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0149840" y="3300984"/>
            <a:ext cx="274320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10149840" y="330098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0515600" y="32735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858000" y="35753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Pasha Holding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321040" y="3630168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74" name="Shape 72"/>
          <p:cNvSpPr/>
          <p:nvPr/>
        </p:nvSpPr>
        <p:spPr>
          <a:xfrm>
            <a:off x="8321040" y="3630168"/>
            <a:ext cx="973836" cy="128016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75" name="Text 73"/>
          <p:cNvSpPr/>
          <p:nvPr/>
        </p:nvSpPr>
        <p:spPr>
          <a:xfrm>
            <a:off x="9784080" y="35753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149840" y="3602736"/>
            <a:ext cx="274320" cy="201168"/>
          </a:xfrm>
          <a:prstGeom prst="roundRect">
            <a:avLst>
              <a:gd name="adj" fmla="val 27273"/>
            </a:avLst>
          </a:prstGeom>
          <a:solidFill>
            <a:srgbClr val="0066FF"/>
          </a:solidFill>
          <a:ln/>
        </p:spPr>
      </p:sp>
      <p:sp>
        <p:nvSpPr>
          <p:cNvPr id="77" name="Text 75"/>
          <p:cNvSpPr/>
          <p:nvPr/>
        </p:nvSpPr>
        <p:spPr>
          <a:xfrm>
            <a:off x="10149840" y="360273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0515600" y="35753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858000" y="38770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 Bank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321040" y="3931920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81" name="Shape 79"/>
          <p:cNvSpPr/>
          <p:nvPr/>
        </p:nvSpPr>
        <p:spPr>
          <a:xfrm>
            <a:off x="8321040" y="3931920"/>
            <a:ext cx="877824" cy="128016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82" name="Text 80"/>
          <p:cNvSpPr/>
          <p:nvPr/>
        </p:nvSpPr>
        <p:spPr>
          <a:xfrm>
            <a:off x="9784080" y="387705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0149840" y="3904488"/>
            <a:ext cx="274320" cy="201168"/>
          </a:xfrm>
          <a:prstGeom prst="roundRect">
            <a:avLst>
              <a:gd name="adj" fmla="val 27273"/>
            </a:avLst>
          </a:prstGeom>
          <a:solidFill>
            <a:srgbClr val="0066FF"/>
          </a:solidFill>
          <a:ln/>
        </p:spPr>
      </p:sp>
      <p:sp>
        <p:nvSpPr>
          <p:cNvPr id="84" name="Text 82"/>
          <p:cNvSpPr/>
          <p:nvPr/>
        </p:nvSpPr>
        <p:spPr>
          <a:xfrm>
            <a:off x="10149840" y="39044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10515600" y="38770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858000" y="4178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Sigorta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8321040" y="4233672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88" name="Shape 86"/>
          <p:cNvSpPr/>
          <p:nvPr/>
        </p:nvSpPr>
        <p:spPr>
          <a:xfrm>
            <a:off x="8321040" y="4233672"/>
            <a:ext cx="61722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89" name="Text 87"/>
          <p:cNvSpPr/>
          <p:nvPr/>
        </p:nvSpPr>
        <p:spPr>
          <a:xfrm>
            <a:off x="9784080" y="417880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0149840" y="4206240"/>
            <a:ext cx="27432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/>
        </p:spPr>
      </p:sp>
      <p:sp>
        <p:nvSpPr>
          <p:cNvPr id="91" name="Text 89"/>
          <p:cNvSpPr/>
          <p:nvPr/>
        </p:nvSpPr>
        <p:spPr>
          <a:xfrm>
            <a:off x="10149840" y="42062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10515600" y="41788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6858000" y="4480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Bravo SM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321040" y="4535424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95" name="Shape 93"/>
          <p:cNvSpPr/>
          <p:nvPr/>
        </p:nvSpPr>
        <p:spPr>
          <a:xfrm>
            <a:off x="8321040" y="4535424"/>
            <a:ext cx="384048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96" name="Text 94"/>
          <p:cNvSpPr/>
          <p:nvPr/>
        </p:nvSpPr>
        <p:spPr>
          <a:xfrm>
            <a:off x="9784080" y="44805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10149840" y="4507992"/>
            <a:ext cx="274320" cy="201168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/>
        </p:spPr>
      </p:sp>
      <p:sp>
        <p:nvSpPr>
          <p:cNvPr id="98" name="Text 96"/>
          <p:cNvSpPr/>
          <p:nvPr/>
        </p:nvSpPr>
        <p:spPr>
          <a:xfrm>
            <a:off x="10149840" y="45079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10515600" y="4480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6720840" y="498348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858000" y="5029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Vinci AI Assistant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858000" y="5285232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/>
        </p:spPr>
      </p:sp>
      <p:sp>
        <p:nvSpPr>
          <p:cNvPr id="103" name="Text 101"/>
          <p:cNvSpPr/>
          <p:nvPr/>
        </p:nvSpPr>
        <p:spPr>
          <a:xfrm>
            <a:off x="6949440" y="532180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6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Azercell MMC ucun en yaxsi addim:</a:t>
            </a:r>
            <a:endParaRPr lang="en-US" sz="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gosterisi planlasdirin — konversiya ehtimali 87%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6858000" y="5897880"/>
            <a:ext cx="457200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sp>
        <p:nvSpPr>
          <p:cNvPr id="105" name="Text 103"/>
          <p:cNvSpPr/>
          <p:nvPr/>
        </p:nvSpPr>
        <p:spPr>
          <a:xfrm>
            <a:off x="6995160" y="5897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AI-dan sorusu...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&amp; Inteqrasiyalar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Tehlukesizlik, RBAC, API, webhooks — enterprise-ready infrastruktur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00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572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/ OAuth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1828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Microsoft ile giris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600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995928" y="1572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Rollar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95928" y="1828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sistem rolu + custom, modul icazeleri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600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6876288" y="1572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76288" y="1828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Xarici sistemler ucun, scope-based giris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98280" y="1463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600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756648" y="1572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56648" y="1828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Zapier, n8n, Make.com inteqrasiya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743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2715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" y="2971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Butun emeliyyatlarin tarixcesi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37560" y="2606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0" y="2743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3995928" y="2715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95928" y="2971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Istenielen entity-ye elave saheler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2606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2743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6876288" y="2715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76288" y="2971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Coxvalyutali destek, mezenni idaresi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098280" y="2606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35440" y="2743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066FF"/>
          </a:solidFill>
          <a:ln/>
        </p:spPr>
      </p:sp>
      <p:sp>
        <p:nvSpPr>
          <p:cNvPr id="37" name="Text 35"/>
          <p:cNvSpPr/>
          <p:nvPr/>
        </p:nvSpPr>
        <p:spPr>
          <a:xfrm>
            <a:off x="9756648" y="2715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756648" y="2971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Azerbaycanca, rusca, ingilisce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4360" y="3886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1115568" y="3858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Musteri Portali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15568" y="4114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Tiketler, KB, AI chat, ozunexidmet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37560" y="3749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74720" y="3886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3995928" y="3858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95928" y="4114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home screen, offline destek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17920" y="3749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55080" y="3886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6876288" y="3858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Bildirisler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76288" y="4114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in-app, SLA alertler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098280" y="37490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235440" y="388620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9756648" y="385876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756648" y="41148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Teqvim sinxronizasiyasi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93776" y="4882896"/>
            <a:ext cx="11338560" cy="1828800"/>
          </a:xfrm>
          <a:prstGeom prst="roundRect">
            <a:avLst>
              <a:gd name="adj" fmla="val 6000"/>
            </a:avLst>
          </a:prstGeom>
          <a:solidFill>
            <a:srgbClr val="000000">
              <a:alpha val="1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57200" y="4846320"/>
            <a:ext cx="11338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846320"/>
            <a:ext cx="11338560" cy="36576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/>
        </p:spPr>
      </p:sp>
      <p:sp>
        <p:nvSpPr>
          <p:cNvPr id="58" name="Shape 56"/>
          <p:cNvSpPr/>
          <p:nvPr/>
        </p:nvSpPr>
        <p:spPr>
          <a:xfrm>
            <a:off x="457200" y="5029200"/>
            <a:ext cx="1133856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Shape 57"/>
          <p:cNvSpPr/>
          <p:nvPr/>
        </p:nvSpPr>
        <p:spPr>
          <a:xfrm>
            <a:off x="640080" y="495604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0" name="Shape 58"/>
          <p:cNvSpPr/>
          <p:nvPr/>
        </p:nvSpPr>
        <p:spPr>
          <a:xfrm>
            <a:off x="841248" y="4956048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1" name="Shape 59"/>
          <p:cNvSpPr/>
          <p:nvPr/>
        </p:nvSpPr>
        <p:spPr>
          <a:xfrm>
            <a:off x="1042416" y="495604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62" name="Text 60"/>
          <p:cNvSpPr/>
          <p:nvPr/>
        </p:nvSpPr>
        <p:spPr>
          <a:xfrm>
            <a:off x="1371600" y="489204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Parametrler — Rollar &amp; Icazeler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5212080"/>
            <a:ext cx="113385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64008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46888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9768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Menecer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12648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95528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78408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Musteriler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40080" y="55321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Sovdelesmeler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468880" y="55321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297680" y="55321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126480" y="55321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955280" y="55321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784080" y="55321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40080" y="57881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Maliyye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468880" y="57881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297680" y="57881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126480" y="57881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955280" y="57881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9784080" y="57881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40080" y="60441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Tiketler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468880" y="60441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297680" y="60441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126480" y="60441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955280" y="60441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9784080" y="60441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40080" y="6300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Hesabatlar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2468880" y="6300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4297680" y="6300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126480" y="6300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955280" y="6300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9784080" y="6300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Qiymetlendirme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Butun funksionalliq daxildir. Limitsiz modullar. Setrinize uygun plan secin.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383280" cy="48463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63500" dir="162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 istifadeci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0312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 / 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337560"/>
            <a:ext cx="283464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74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CRM &amp; Satis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8221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Marketinq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1696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Destek &amp; Tiketler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5171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Inbox (butun kanallar)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48646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Lid Skorinq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5212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 GB yaddas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55595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Email destek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1554480"/>
            <a:ext cx="3383280" cy="4846320"/>
          </a:xfrm>
          <a:prstGeom prst="roundRect">
            <a:avLst>
              <a:gd name="adj" fmla="val 405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90500" dist="63500" dir="162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0" y="13716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POPULYAR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1554480"/>
            <a:ext cx="33832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828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54880" y="2240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6-25 istifadeci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6060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85216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 / ay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337560"/>
            <a:ext cx="2834640" cy="9144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474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Starter-deki her sey 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8221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Maliyye modulu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1696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Budceleme &amp; Rentabellik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45171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Workflow Engine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8646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API &amp; Webhooks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5212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Custom Fields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55595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Audit Log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59070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Prioritet destek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1554480"/>
            <a:ext cx="3383280" cy="48463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63500" dir="162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0" y="1554480"/>
            <a:ext cx="33832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1828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503920" y="2240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istifadeci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03920" y="26060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960120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 / ay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03920" y="3337560"/>
            <a:ext cx="283464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3474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Business-deki her sey +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03920" y="38221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SSO / OAuth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03920" y="41696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 Vinci AI Agentler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45171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Proqnozlasdirma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03920" y="48646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Field Permissions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03920" y="5212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Musteri Portali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03920" y="55595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Dedicated Manager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03920" y="59070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SLA Garantiyasi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Bizimlə Əlaqə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LeadDrive CRM ilə biznesinizi növbəti səviyyəyə çatdırın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22860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74520" y="3200400"/>
            <a:ext cx="731520" cy="7315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leaddrivecrm.org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3017520"/>
            <a:ext cx="22860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320040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info@leaddrivecrm.org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017520"/>
            <a:ext cx="22860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320040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+994 __ ___ __ __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3017520"/>
            <a:ext cx="22860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29800" y="320040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5256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5256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Baki, Azerbaycan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0" y="5303520"/>
            <a:ext cx="45720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5303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Sifaris Edin  -&gt;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Guven Technology LLC  |  Baki, Azerbaycan  |  Butun huquqlar qorunur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Guven Technology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LeadDrive CRM — Kommersiya Teklifi</dc:title>
  <dc:subject>CRM Platformasi</dc:subject>
  <dc:creator>Guven Technology LLC</dc:creator>
  <cp:lastModifiedBy>Guven Technology LLC</cp:lastModifiedBy>
  <cp:revision>1</cp:revision>
  <dcterms:created xsi:type="dcterms:W3CDTF">2026-04-06T09:14:02Z</dcterms:created>
  <dcterms:modified xsi:type="dcterms:W3CDTF">2026-04-06T09:14:02Z</dcterms:modified>
</cp:coreProperties>
</file>